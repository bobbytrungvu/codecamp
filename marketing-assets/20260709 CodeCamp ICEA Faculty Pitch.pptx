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sldIdLst>
    <p:sldId id="256" r:id="rId2"/>
    <p:sldId id="273" r:id="rId3"/>
    <p:sldId id="268" r:id="rId4"/>
    <p:sldId id="270" r:id="rId5"/>
    <p:sldId id="271" r:id="rId6"/>
    <p:sldId id="272" r:id="rId7"/>
  </p:sldIdLst>
  <p:sldSz cx="18288000" cy="10287000"/>
  <p:notesSz cx="6858000" cy="9144000"/>
  <p:embeddedFontLst>
    <p:embeddedFont>
      <p:font typeface="Pixellet TH" panose="02000503000000000000"/>
      <p:regular r:id="rId9"/>
    </p:embeddedFont>
    <p:embeddedFont>
      <p:font typeface="SF Mono" panose="020B0009000002000000" pitchFamily="49" charset="0"/>
      <p:regular r:id="rId10"/>
      <p:bold r:id="rId11"/>
      <p:italic r:id="rId12"/>
      <p:boldItalic r:id="rId13"/>
    </p:embeddedFont>
    <p:embeddedFont>
      <p:font typeface="W95FA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BDB"/>
    <a:srgbClr val="57C8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73014" autoAdjust="0"/>
  </p:normalViewPr>
  <p:slideViewPr>
    <p:cSldViewPr>
      <p:cViewPr varScale="1">
        <p:scale>
          <a:sx n="60" d="100"/>
          <a:sy n="60" d="100"/>
        </p:scale>
        <p:origin x="229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88847-6337-CD48-8D80-5A1B18C0C0C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7CEE4-BFF0-DF41-B3D1-7BC676465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0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(10s) Hi everyone, we’d like to introduce </a:t>
            </a:r>
            <a:r>
              <a:rPr lang="en-GB" b="1" dirty="0" err="1"/>
              <a:t>CodeCamp</a:t>
            </a:r>
            <a:r>
              <a:rPr lang="en-GB" dirty="0"/>
              <a:t>, a five-week programme designed to help NMES students with no coding experience to build confidence in programming.</a:t>
            </a: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7CEE4-BFF0-DF41-B3D1-7BC6764653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74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8013F-8372-7247-9469-8A394A71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08CDE-E8F9-CF00-C06A-AC8CAC181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71039-BBA6-D621-AA13-1CB8384E2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(10s) Hi everyone, we’d like to introduce </a:t>
            </a:r>
            <a:r>
              <a:rPr lang="en-GB" b="1" dirty="0" err="1"/>
              <a:t>CodeCamp</a:t>
            </a:r>
            <a:r>
              <a:rPr lang="en-GB" dirty="0"/>
              <a:t>, a five-week programme designed to help NMES students with no coding experience to build confidence in programming.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05934-C613-20C9-D0BE-6D4ECE43A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7CEE4-BFF0-DF41-B3D1-7BC6764653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76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(10s) Our team includes:</a:t>
            </a:r>
          </a:p>
          <a:p>
            <a:endParaRPr lang="en-US" dirty="0"/>
          </a:p>
          <a:p>
            <a:r>
              <a:rPr lang="en-US" dirty="0"/>
              <a:t>Bia, who’s in charge of Partnership &amp; Coordination</a:t>
            </a:r>
          </a:p>
          <a:p>
            <a:endParaRPr lang="en-US" dirty="0"/>
          </a:p>
          <a:p>
            <a:r>
              <a:rPr lang="en-US" dirty="0"/>
              <a:t>Shreya, who’s doing Marketing</a:t>
            </a:r>
          </a:p>
          <a:p>
            <a:endParaRPr lang="en-US" dirty="0"/>
          </a:p>
          <a:p>
            <a:r>
              <a:rPr lang="en-US" dirty="0"/>
              <a:t>And me, Bobby, who’s doing Curriculum &amp;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7CEE4-BFF0-DF41-B3D1-7BC6764653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96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(40s) The problem we are trying to solve is that: while coding is an important skill, it is not always accessible to STEM students.</a:t>
            </a:r>
          </a:p>
          <a:p>
            <a:endParaRPr lang="en-GB" dirty="0"/>
          </a:p>
          <a:p>
            <a:r>
              <a:rPr lang="en-GB" dirty="0"/>
              <a:t>Firstly, STEM courses involve computational and data skills, but students do not always receive enough structured support to learn programming.</a:t>
            </a:r>
          </a:p>
          <a:p>
            <a:endParaRPr lang="en-GB" dirty="0"/>
          </a:p>
          <a:p>
            <a:r>
              <a:rPr lang="en-GB" dirty="0"/>
              <a:t>Secondly, STEM students have strong analytical skills but don’t know how to translate those into employable skills.</a:t>
            </a:r>
          </a:p>
          <a:p>
            <a:endParaRPr lang="en-GB" dirty="0"/>
          </a:p>
          <a:p>
            <a:r>
              <a:rPr lang="en-GB" dirty="0"/>
              <a:t>Also, AI has made coding easier to start, but the fundamentals still matter to evaluate AI-generated code rather than relying on it blindly.</a:t>
            </a:r>
          </a:p>
          <a:p>
            <a:endParaRPr lang="en-GB" dirty="0"/>
          </a:p>
          <a:p>
            <a:r>
              <a:rPr lang="en-GB" b="1" dirty="0"/>
              <a:t>This is where </a:t>
            </a:r>
            <a:r>
              <a:rPr lang="en-GB" b="1" dirty="0" err="1"/>
              <a:t>CodeCamp</a:t>
            </a:r>
            <a:r>
              <a:rPr lang="en-GB" b="1" dirty="0"/>
              <a:t> comes in:</a:t>
            </a:r>
            <a:r>
              <a:rPr lang="en-GB" dirty="0"/>
              <a:t> it provides an inclusive and low-pressure entry point for students to learn to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7CEE4-BFF0-DF41-B3D1-7BC6764653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58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(30s) Our solution is a five-week Python programme designed for STEM students with no coding experience.</a:t>
            </a:r>
          </a:p>
          <a:p>
            <a:endParaRPr lang="en-GB" dirty="0"/>
          </a:p>
          <a:p>
            <a:r>
              <a:rPr lang="en-GB" dirty="0"/>
              <a:t>In Weeks 1 to 3, we will build their foundations in Python and cover concepts such as functions, data structures and debugging.</a:t>
            </a:r>
          </a:p>
          <a:p>
            <a:endParaRPr lang="en-GB" dirty="0"/>
          </a:p>
          <a:p>
            <a:r>
              <a:rPr lang="en-GB" dirty="0"/>
              <a:t>In Week 4, students will apply those skills to STEM data by learning how to clean, analyse and visualise datasets.</a:t>
            </a:r>
          </a:p>
          <a:p>
            <a:endParaRPr lang="en-GB" dirty="0"/>
          </a:p>
          <a:p>
            <a:r>
              <a:rPr lang="en-GB" dirty="0"/>
              <a:t>In Week 5, we will help students deploy their projects and learn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7CEE4-BFF0-DF41-B3D1-7BC6764653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77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(30s) OUR GOALS: By the end of </a:t>
            </a:r>
            <a:r>
              <a:rPr lang="en-GB" b="1" dirty="0" err="1"/>
              <a:t>CodeCamp</a:t>
            </a:r>
            <a:r>
              <a:rPr lang="en-GB" b="1" dirty="0"/>
              <a:t>, we want students to…</a:t>
            </a:r>
          </a:p>
          <a:p>
            <a:endParaRPr lang="en-GB" dirty="0"/>
          </a:p>
          <a:p>
            <a:r>
              <a:rPr lang="en-GB" dirty="0"/>
              <a:t>(1) …feel confident using Python independently and understanding the fundamentals.</a:t>
            </a:r>
          </a:p>
          <a:p>
            <a:endParaRPr lang="en-GB" dirty="0"/>
          </a:p>
          <a:p>
            <a:r>
              <a:rPr lang="en-GB" dirty="0"/>
              <a:t>(2) We also want them to become independent learners who can pick up any new languages easily.</a:t>
            </a:r>
          </a:p>
          <a:p>
            <a:endParaRPr lang="en-GB" dirty="0"/>
          </a:p>
          <a:p>
            <a:r>
              <a:rPr lang="en-GB" dirty="0"/>
              <a:t>(3), We want students to understand how programming can connect their STEM background to tech careers.</a:t>
            </a:r>
          </a:p>
          <a:p>
            <a:endParaRPr lang="en-GB" dirty="0"/>
          </a:p>
          <a:p>
            <a:r>
              <a:rPr lang="en-GB" dirty="0"/>
              <a:t>--</a:t>
            </a:r>
          </a:p>
          <a:p>
            <a:endParaRPr lang="en-GB" dirty="0"/>
          </a:p>
          <a:p>
            <a:r>
              <a:rPr lang="en-GB" dirty="0"/>
              <a:t>Overall, five weeks is only a starting point. </a:t>
            </a:r>
          </a:p>
          <a:p>
            <a:endParaRPr lang="en-GB" dirty="0"/>
          </a:p>
          <a:p>
            <a:r>
              <a:rPr lang="en-GB" dirty="0"/>
              <a:t>Our aim is to give students enough of a foundation that coding stops feeling like a barrier and becomes a skill they feel confident continuing to develop.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7CEE4-BFF0-DF41-B3D1-7BC6764653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0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5400000">
            <a:off x="0" y="7048066"/>
            <a:ext cx="3238934" cy="3238934"/>
          </a:xfrm>
          <a:custGeom>
            <a:avLst/>
            <a:gdLst/>
            <a:ahLst/>
            <a:cxnLst/>
            <a:rect l="l" t="t" r="r" b="b"/>
            <a:pathLst>
              <a:path w="3238934" h="3238934">
                <a:moveTo>
                  <a:pt x="0" y="0"/>
                </a:moveTo>
                <a:lnTo>
                  <a:pt x="3238934" y="0"/>
                </a:lnTo>
                <a:lnTo>
                  <a:pt x="3238934" y="3238934"/>
                </a:lnTo>
                <a:lnTo>
                  <a:pt x="0" y="3238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10245777">
            <a:off x="-573500" y="-1168969"/>
            <a:ext cx="3204400" cy="4114800"/>
          </a:xfrm>
          <a:custGeom>
            <a:avLst/>
            <a:gdLst/>
            <a:ahLst/>
            <a:cxnLst/>
            <a:rect l="l" t="t" r="r" b="b"/>
            <a:pathLst>
              <a:path w="3204400" h="4114800">
                <a:moveTo>
                  <a:pt x="0" y="0"/>
                </a:moveTo>
                <a:lnTo>
                  <a:pt x="3204400" y="0"/>
                </a:lnTo>
                <a:lnTo>
                  <a:pt x="3204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0000">
            <a:off x="13783350" y="1604320"/>
            <a:ext cx="5770085" cy="2957169"/>
          </a:xfrm>
          <a:custGeom>
            <a:avLst/>
            <a:gdLst/>
            <a:ahLst/>
            <a:cxnLst/>
            <a:rect l="l" t="t" r="r" b="b"/>
            <a:pathLst>
              <a:path w="5770085" h="2957169">
                <a:moveTo>
                  <a:pt x="0" y="0"/>
                </a:moveTo>
                <a:lnTo>
                  <a:pt x="5770085" y="0"/>
                </a:lnTo>
                <a:lnTo>
                  <a:pt x="5770085" y="2957168"/>
                </a:lnTo>
                <a:lnTo>
                  <a:pt x="0" y="29571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B77C99-9F40-7CCD-D898-CC072FB719B1}"/>
              </a:ext>
            </a:extLst>
          </p:cNvPr>
          <p:cNvGrpSpPr/>
          <p:nvPr/>
        </p:nvGrpSpPr>
        <p:grpSpPr>
          <a:xfrm>
            <a:off x="5063378" y="942673"/>
            <a:ext cx="8161239" cy="7332544"/>
            <a:chOff x="4556323" y="723900"/>
            <a:chExt cx="9175351" cy="8510138"/>
          </a:xfrm>
        </p:grpSpPr>
        <p:sp>
          <p:nvSpPr>
            <p:cNvPr id="3" name="Freeform 3"/>
            <p:cNvSpPr/>
            <p:nvPr/>
          </p:nvSpPr>
          <p:spPr>
            <a:xfrm>
              <a:off x="4556323" y="723900"/>
              <a:ext cx="9175351" cy="8510138"/>
            </a:xfrm>
            <a:custGeom>
              <a:avLst/>
              <a:gdLst/>
              <a:ahLst/>
              <a:cxnLst/>
              <a:rect l="l" t="t" r="r" b="b"/>
              <a:pathLst>
                <a:path w="9175351" h="8510138">
                  <a:moveTo>
                    <a:pt x="0" y="0"/>
                  </a:moveTo>
                  <a:lnTo>
                    <a:pt x="9175352" y="0"/>
                  </a:lnTo>
                  <a:lnTo>
                    <a:pt x="9175352" y="8510138"/>
                  </a:lnTo>
                  <a:lnTo>
                    <a:pt x="0" y="851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8154" y="1796556"/>
              <a:ext cx="4931688" cy="3274379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ts val="11000"/>
                </a:lnSpc>
                <a:spcBef>
                  <a:spcPct val="0"/>
                </a:spcBef>
              </a:pPr>
              <a:r>
                <a:rPr lang="en-US" sz="10800" spc="-100" dirty="0">
                  <a:solidFill>
                    <a:srgbClr val="000000"/>
                  </a:solidFill>
                  <a:latin typeface="Pixellet TH"/>
                  <a:ea typeface="Pixellet TH"/>
                  <a:cs typeface="Pixellet TH"/>
                  <a:sym typeface="Pixellet TH"/>
                </a:rPr>
                <a:t>Code</a:t>
              </a:r>
            </a:p>
            <a:p>
              <a:pPr algn="ctr">
                <a:lnSpc>
                  <a:spcPts val="11000"/>
                </a:lnSpc>
                <a:spcBef>
                  <a:spcPct val="0"/>
                </a:spcBef>
              </a:pPr>
              <a:r>
                <a:rPr lang="en-US" sz="10800" spc="-100" dirty="0">
                  <a:solidFill>
                    <a:srgbClr val="000000"/>
                  </a:solidFill>
                  <a:latin typeface="Pixellet TH"/>
                  <a:ea typeface="Pixellet TH"/>
                  <a:cs typeface="Pixellet TH"/>
                  <a:sym typeface="Pixellet TH"/>
                </a:rPr>
                <a:t>camp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9CE9512-D3B8-91F7-89B7-445552E43F0C}"/>
              </a:ext>
            </a:extLst>
          </p:cNvPr>
          <p:cNvSpPr txBox="1"/>
          <p:nvPr/>
        </p:nvSpPr>
        <p:spPr>
          <a:xfrm>
            <a:off x="3260782" y="8629433"/>
            <a:ext cx="11766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W95FA" pitchFamily="2" charset="0"/>
              </a:rPr>
              <a:t>Make coding a STEM superpower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2D490-9E87-498E-4CF1-6BD44AC0D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02AEC6C2-A57A-F751-2CC7-AD9A5D251E6D}"/>
              </a:ext>
            </a:extLst>
          </p:cNvPr>
          <p:cNvSpPr/>
          <p:nvPr/>
        </p:nvSpPr>
        <p:spPr>
          <a:xfrm rot="5400000">
            <a:off x="0" y="7048066"/>
            <a:ext cx="3238934" cy="3238934"/>
          </a:xfrm>
          <a:custGeom>
            <a:avLst/>
            <a:gdLst/>
            <a:ahLst/>
            <a:cxnLst/>
            <a:rect l="l" t="t" r="r" b="b"/>
            <a:pathLst>
              <a:path w="3238934" h="3238934">
                <a:moveTo>
                  <a:pt x="0" y="0"/>
                </a:moveTo>
                <a:lnTo>
                  <a:pt x="3238934" y="0"/>
                </a:lnTo>
                <a:lnTo>
                  <a:pt x="3238934" y="3238934"/>
                </a:lnTo>
                <a:lnTo>
                  <a:pt x="0" y="3238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A1AD094-85F3-AEE2-9A00-9C6ED1D3EF75}"/>
              </a:ext>
            </a:extLst>
          </p:cNvPr>
          <p:cNvSpPr/>
          <p:nvPr/>
        </p:nvSpPr>
        <p:spPr>
          <a:xfrm rot="10245777">
            <a:off x="-573500" y="-1168969"/>
            <a:ext cx="3204400" cy="4114800"/>
          </a:xfrm>
          <a:custGeom>
            <a:avLst/>
            <a:gdLst/>
            <a:ahLst/>
            <a:cxnLst/>
            <a:rect l="l" t="t" r="r" b="b"/>
            <a:pathLst>
              <a:path w="3204400" h="4114800">
                <a:moveTo>
                  <a:pt x="0" y="0"/>
                </a:moveTo>
                <a:lnTo>
                  <a:pt x="3204400" y="0"/>
                </a:lnTo>
                <a:lnTo>
                  <a:pt x="3204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DE82841-0D4F-E883-0AEB-9F7D3C5DC117}"/>
              </a:ext>
            </a:extLst>
          </p:cNvPr>
          <p:cNvSpPr/>
          <p:nvPr/>
        </p:nvSpPr>
        <p:spPr>
          <a:xfrm rot="-5400000">
            <a:off x="13783350" y="1604320"/>
            <a:ext cx="5770085" cy="2957169"/>
          </a:xfrm>
          <a:custGeom>
            <a:avLst/>
            <a:gdLst/>
            <a:ahLst/>
            <a:cxnLst/>
            <a:rect l="l" t="t" r="r" b="b"/>
            <a:pathLst>
              <a:path w="5770085" h="2957169">
                <a:moveTo>
                  <a:pt x="0" y="0"/>
                </a:moveTo>
                <a:lnTo>
                  <a:pt x="5770085" y="0"/>
                </a:lnTo>
                <a:lnTo>
                  <a:pt x="5770085" y="2957168"/>
                </a:lnTo>
                <a:lnTo>
                  <a:pt x="0" y="29571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D3942C-9962-97D1-0F10-00AC83F6D044}"/>
              </a:ext>
            </a:extLst>
          </p:cNvPr>
          <p:cNvGrpSpPr/>
          <p:nvPr/>
        </p:nvGrpSpPr>
        <p:grpSpPr>
          <a:xfrm>
            <a:off x="5063378" y="942673"/>
            <a:ext cx="8161239" cy="7332544"/>
            <a:chOff x="4556323" y="723900"/>
            <a:chExt cx="9175351" cy="851013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58B4DD5-AEB6-8F6B-7D9C-5AF6B8E46A8F}"/>
                </a:ext>
              </a:extLst>
            </p:cNvPr>
            <p:cNvSpPr/>
            <p:nvPr/>
          </p:nvSpPr>
          <p:spPr>
            <a:xfrm>
              <a:off x="4556323" y="723900"/>
              <a:ext cx="9175351" cy="8510138"/>
            </a:xfrm>
            <a:custGeom>
              <a:avLst/>
              <a:gdLst/>
              <a:ahLst/>
              <a:cxnLst/>
              <a:rect l="l" t="t" r="r" b="b"/>
              <a:pathLst>
                <a:path w="9175351" h="8510138">
                  <a:moveTo>
                    <a:pt x="0" y="0"/>
                  </a:moveTo>
                  <a:lnTo>
                    <a:pt x="9175352" y="0"/>
                  </a:lnTo>
                  <a:lnTo>
                    <a:pt x="9175352" y="8510138"/>
                  </a:lnTo>
                  <a:lnTo>
                    <a:pt x="0" y="851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14BE8D9-7150-55E5-9CAE-2A0716C433F5}"/>
                </a:ext>
              </a:extLst>
            </p:cNvPr>
            <p:cNvSpPr txBox="1"/>
            <p:nvPr/>
          </p:nvSpPr>
          <p:spPr>
            <a:xfrm>
              <a:off x="6678154" y="1796556"/>
              <a:ext cx="4931688" cy="3274379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ts val="11000"/>
                </a:lnSpc>
                <a:spcBef>
                  <a:spcPct val="0"/>
                </a:spcBef>
              </a:pPr>
              <a:r>
                <a:rPr lang="en-US" sz="10800" spc="-100" dirty="0">
                  <a:solidFill>
                    <a:srgbClr val="000000"/>
                  </a:solidFill>
                  <a:latin typeface="Pixellet TH"/>
                  <a:ea typeface="Pixellet TH"/>
                  <a:cs typeface="Pixellet TH"/>
                  <a:sym typeface="Pixellet TH"/>
                </a:rPr>
                <a:t>Code</a:t>
              </a:r>
            </a:p>
            <a:p>
              <a:pPr algn="ctr">
                <a:lnSpc>
                  <a:spcPts val="11000"/>
                </a:lnSpc>
                <a:spcBef>
                  <a:spcPct val="0"/>
                </a:spcBef>
              </a:pPr>
              <a:r>
                <a:rPr lang="en-US" sz="10800" spc="-100" dirty="0">
                  <a:solidFill>
                    <a:srgbClr val="000000"/>
                  </a:solidFill>
                  <a:latin typeface="Pixellet TH"/>
                  <a:ea typeface="Pixellet TH"/>
                  <a:cs typeface="Pixellet TH"/>
                  <a:sym typeface="Pixellet TH"/>
                </a:rPr>
                <a:t>camp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622BA04-7B9B-86D5-9533-77C0CB714C3F}"/>
              </a:ext>
            </a:extLst>
          </p:cNvPr>
          <p:cNvSpPr txBox="1"/>
          <p:nvPr/>
        </p:nvSpPr>
        <p:spPr>
          <a:xfrm>
            <a:off x="3260782" y="8420997"/>
            <a:ext cx="11766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W95FA" pitchFamily="2" charset="0"/>
              </a:rPr>
              <a:t>Make coding a STEM superpower</a:t>
            </a:r>
          </a:p>
        </p:txBody>
      </p:sp>
    </p:spTree>
    <p:extLst>
      <p:ext uri="{BB962C8B-B14F-4D97-AF65-F5344CB8AC3E}">
        <p14:creationId xmlns:p14="http://schemas.microsoft.com/office/powerpoint/2010/main" val="3099681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D0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B2F92-5869-CA9A-AE0F-7D4D3CFB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B75B85A-A1D8-B027-AD25-505A39ED5D88}"/>
              </a:ext>
            </a:extLst>
          </p:cNvPr>
          <p:cNvSpPr/>
          <p:nvPr/>
        </p:nvSpPr>
        <p:spPr>
          <a:xfrm>
            <a:off x="14516677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1D8449F-2364-A1CD-28EE-EAE5119F9482}"/>
              </a:ext>
            </a:extLst>
          </p:cNvPr>
          <p:cNvSpPr/>
          <p:nvPr/>
        </p:nvSpPr>
        <p:spPr>
          <a:xfrm>
            <a:off x="-2677787" y="2729200"/>
            <a:ext cx="5548438" cy="7884103"/>
          </a:xfrm>
          <a:custGeom>
            <a:avLst/>
            <a:gdLst/>
            <a:ahLst/>
            <a:cxnLst/>
            <a:rect l="l" t="t" r="r" b="b"/>
            <a:pathLst>
              <a:path w="5548438" h="7884103">
                <a:moveTo>
                  <a:pt x="0" y="0"/>
                </a:moveTo>
                <a:lnTo>
                  <a:pt x="5548437" y="0"/>
                </a:lnTo>
                <a:lnTo>
                  <a:pt x="5548437" y="7884103"/>
                </a:lnTo>
                <a:lnTo>
                  <a:pt x="0" y="78841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82D1454-248B-489A-A6AD-967208ABF8A2}"/>
              </a:ext>
            </a:extLst>
          </p:cNvPr>
          <p:cNvGrpSpPr/>
          <p:nvPr/>
        </p:nvGrpSpPr>
        <p:grpSpPr>
          <a:xfrm rot="10800000">
            <a:off x="1163863" y="1714500"/>
            <a:ext cx="15960274" cy="8048541"/>
            <a:chOff x="0" y="0"/>
            <a:chExt cx="4203529" cy="211978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3B63ACF-C5BB-977B-E305-71724B1192DD}"/>
                </a:ext>
              </a:extLst>
            </p:cNvPr>
            <p:cNvSpPr/>
            <p:nvPr/>
          </p:nvSpPr>
          <p:spPr>
            <a:xfrm>
              <a:off x="0" y="0"/>
              <a:ext cx="4203529" cy="2119780"/>
            </a:xfrm>
            <a:custGeom>
              <a:avLst/>
              <a:gdLst/>
              <a:ahLst/>
              <a:cxnLst/>
              <a:rect l="l" t="t" r="r" b="b"/>
              <a:pathLst>
                <a:path w="4203529" h="2119780">
                  <a:moveTo>
                    <a:pt x="0" y="0"/>
                  </a:moveTo>
                  <a:lnTo>
                    <a:pt x="4203529" y="0"/>
                  </a:lnTo>
                  <a:lnTo>
                    <a:pt x="4203529" y="2119780"/>
                  </a:lnTo>
                  <a:lnTo>
                    <a:pt x="0" y="2119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0D770BE-0245-5BD7-FC21-4930E6A68292}"/>
                </a:ext>
              </a:extLst>
            </p:cNvPr>
            <p:cNvSpPr txBox="1"/>
            <p:nvPr/>
          </p:nvSpPr>
          <p:spPr>
            <a:xfrm>
              <a:off x="0" y="-38100"/>
              <a:ext cx="4203529" cy="21578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n-GB" dirty="0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F1F26A6D-23D0-E050-09E5-EE50E515EB1D}"/>
              </a:ext>
            </a:extLst>
          </p:cNvPr>
          <p:cNvSpPr txBox="1"/>
          <p:nvPr/>
        </p:nvSpPr>
        <p:spPr>
          <a:xfrm rot="10800000">
            <a:off x="1075928" y="1930710"/>
            <a:ext cx="15885874" cy="819152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GB" dirty="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D9A0315-A787-EDE7-A0E4-7F3B72DC3F5A}"/>
              </a:ext>
            </a:extLst>
          </p:cNvPr>
          <p:cNvSpPr txBox="1"/>
          <p:nvPr/>
        </p:nvSpPr>
        <p:spPr>
          <a:xfrm>
            <a:off x="1028700" y="776633"/>
            <a:ext cx="16183372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1"/>
              </a:lnSpc>
            </a:pPr>
            <a:r>
              <a:rPr lang="en-GB" sz="6243" b="1" dirty="0">
                <a:solidFill>
                  <a:srgbClr val="000000"/>
                </a:solidFill>
                <a:latin typeface="W95FA" pitchFamily="2" charset="0"/>
                <a:ea typeface="Pixellet TH Bold"/>
                <a:cs typeface="Pixellet TH Bold"/>
                <a:sym typeface="Pixellet TH Bold"/>
              </a:rPr>
              <a:t>TEAM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E663F37-14C7-F4BF-1DC0-BF9345E9083A}"/>
              </a:ext>
            </a:extLst>
          </p:cNvPr>
          <p:cNvSpPr txBox="1"/>
          <p:nvPr/>
        </p:nvSpPr>
        <p:spPr>
          <a:xfrm>
            <a:off x="1913939" y="2476500"/>
            <a:ext cx="4393310" cy="663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GB" sz="4000" b="1" dirty="0">
                <a:solidFill>
                  <a:srgbClr val="FAD00A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Bianca Bodrug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EC59A2F-8D5A-97B6-AC11-0D171D0DE74F}"/>
              </a:ext>
            </a:extLst>
          </p:cNvPr>
          <p:cNvSpPr txBox="1"/>
          <p:nvPr/>
        </p:nvSpPr>
        <p:spPr>
          <a:xfrm>
            <a:off x="2048412" y="6844956"/>
            <a:ext cx="4164709" cy="2023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GB" sz="2400" dirty="0">
                <a:solidFill>
                  <a:srgbClr val="FEFBDB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Partnership &amp;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GB" sz="2400" dirty="0">
                <a:solidFill>
                  <a:srgbClr val="FEFBDB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Programme Coordination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endParaRPr lang="en-GB" sz="2400" dirty="0">
              <a:solidFill>
                <a:srgbClr val="FEFBDB"/>
              </a:solidFill>
              <a:latin typeface="SF Mono" panose="020B0009000002000000" pitchFamily="49" charset="0"/>
              <a:ea typeface="Bitter"/>
              <a:cs typeface="SF Mono" panose="020B0009000002000000" pitchFamily="49" charset="0"/>
              <a:sym typeface="Bitter"/>
            </a:endParaRP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GB" sz="2400" dirty="0">
                <a:solidFill>
                  <a:srgbClr val="FEFBDB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BSc Chemistry with Biomedicine (Year 2)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B926EC01-406B-F64E-1ED3-DD683B01FACF}"/>
              </a:ext>
            </a:extLst>
          </p:cNvPr>
          <p:cNvSpPr txBox="1"/>
          <p:nvPr/>
        </p:nvSpPr>
        <p:spPr>
          <a:xfrm>
            <a:off x="7189090" y="2476500"/>
            <a:ext cx="4393310" cy="675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GB" sz="4000" b="1" dirty="0">
                <a:solidFill>
                  <a:srgbClr val="FAD00A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Shreya Shah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B160CB28-5F94-41FE-08FC-453A957634D2}"/>
              </a:ext>
            </a:extLst>
          </p:cNvPr>
          <p:cNvSpPr txBox="1"/>
          <p:nvPr/>
        </p:nvSpPr>
        <p:spPr>
          <a:xfrm>
            <a:off x="12142667" y="2476500"/>
            <a:ext cx="4393310" cy="675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GB" sz="4000" b="1" dirty="0">
                <a:solidFill>
                  <a:srgbClr val="FAD00A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Bobby Vu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31C7FE3A-7E95-918F-2B9C-DC94E68FB3EE}"/>
              </a:ext>
            </a:extLst>
          </p:cNvPr>
          <p:cNvSpPr txBox="1"/>
          <p:nvPr/>
        </p:nvSpPr>
        <p:spPr>
          <a:xfrm>
            <a:off x="7323563" y="6844956"/>
            <a:ext cx="4164709" cy="2023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GB" sz="2400" dirty="0">
                <a:solidFill>
                  <a:srgbClr val="FEFBDB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Marketing 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GB" sz="2400" dirty="0">
                <a:solidFill>
                  <a:srgbClr val="FEFBDB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&amp; Communications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endParaRPr lang="en-GB" sz="2400" dirty="0">
              <a:solidFill>
                <a:srgbClr val="FEFBDB"/>
              </a:solidFill>
              <a:latin typeface="SF Mono" panose="020B0009000002000000" pitchFamily="49" charset="0"/>
              <a:ea typeface="Bitter"/>
              <a:cs typeface="SF Mono" panose="020B0009000002000000" pitchFamily="49" charset="0"/>
              <a:sym typeface="Bitter"/>
            </a:endParaRP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GB" sz="2400" dirty="0">
                <a:solidFill>
                  <a:srgbClr val="FEFBDB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BSc Chemistry with Biomedicine (Year 2)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80F0B4D6-2A70-3672-0D83-82BFF079941B}"/>
              </a:ext>
            </a:extLst>
          </p:cNvPr>
          <p:cNvSpPr txBox="1"/>
          <p:nvPr/>
        </p:nvSpPr>
        <p:spPr>
          <a:xfrm>
            <a:off x="12277140" y="6844956"/>
            <a:ext cx="4164709" cy="2023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GB" sz="2400" dirty="0">
                <a:solidFill>
                  <a:srgbClr val="FEFBDB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Curriculum &amp;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GB" sz="2400" dirty="0">
                <a:solidFill>
                  <a:srgbClr val="FEFBDB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Teaching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endParaRPr lang="en-GB" sz="2400" dirty="0">
              <a:solidFill>
                <a:srgbClr val="FEFBDB"/>
              </a:solidFill>
              <a:latin typeface="SF Mono" panose="020B0009000002000000" pitchFamily="49" charset="0"/>
              <a:ea typeface="Bitter"/>
              <a:cs typeface="SF Mono" panose="020B0009000002000000" pitchFamily="49" charset="0"/>
              <a:sym typeface="Bitter"/>
            </a:endParaRP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GB" sz="2400" dirty="0">
                <a:solidFill>
                  <a:srgbClr val="FEFBDB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MSc Advanced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GB" sz="2400" dirty="0">
                <a:solidFill>
                  <a:srgbClr val="FEFBDB"/>
                </a:solidFill>
                <a:latin typeface="SF Mono" panose="020B0009000002000000" pitchFamily="49" charset="0"/>
                <a:ea typeface="Bitter"/>
                <a:cs typeface="SF Mono" panose="020B0009000002000000" pitchFamily="49" charset="0"/>
                <a:sym typeface="Bitter"/>
              </a:rPr>
              <a:t>Software Engineering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BFD8DD9-96ED-5CAA-A1A5-DCAE268934E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196" t="942" r="18262" b="-197"/>
          <a:stretch>
            <a:fillRect/>
          </a:stretch>
        </p:blipFill>
        <p:spPr>
          <a:xfrm>
            <a:off x="7946010" y="3524250"/>
            <a:ext cx="2918989" cy="2918989"/>
          </a:xfrm>
          <a:prstGeom prst="ellipse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FC5831E-42DA-196E-2F52-586D4550D8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1885" y="3524250"/>
            <a:ext cx="2918989" cy="2918989"/>
          </a:xfrm>
          <a:prstGeom prst="ellipse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A59F383-DEA6-1FDB-328C-6C1D6BCF11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84800" y="3543300"/>
            <a:ext cx="2918989" cy="291898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2826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397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9984A-9622-87A0-2F8E-579442D9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9">
            <a:extLst>
              <a:ext uri="{FF2B5EF4-FFF2-40B4-BE49-F238E27FC236}">
                <a16:creationId xmlns:a16="http://schemas.microsoft.com/office/drawing/2014/main" id="{686FEEAA-7392-5865-A7E4-EC2E64D14707}"/>
              </a:ext>
            </a:extLst>
          </p:cNvPr>
          <p:cNvSpPr txBox="1"/>
          <p:nvPr/>
        </p:nvSpPr>
        <p:spPr>
          <a:xfrm>
            <a:off x="940250" y="733425"/>
            <a:ext cx="16230600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6000" b="1" dirty="0">
                <a:solidFill>
                  <a:schemeClr val="bg1"/>
                </a:solidFill>
                <a:latin typeface="W95FA" pitchFamily="2" charset="0"/>
                <a:ea typeface="Pixellet TH"/>
                <a:cs typeface="Pixellet TH"/>
                <a:sym typeface="Pixellet TH"/>
              </a:rPr>
              <a:t>CODING IS INCREASINGLY IMPORTANT, BUT NOT ALWAYS ACCESSIBLE TO STEM STUDENTS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F3D05C0-FDCC-9784-F0C8-EBD3193E642C}"/>
              </a:ext>
            </a:extLst>
          </p:cNvPr>
          <p:cNvSpPr/>
          <p:nvPr/>
        </p:nvSpPr>
        <p:spPr>
          <a:xfrm>
            <a:off x="1783673" y="3292784"/>
            <a:ext cx="15249504" cy="1112258"/>
          </a:xfrm>
          <a:custGeom>
            <a:avLst/>
            <a:gdLst/>
            <a:ahLst/>
            <a:cxnLst/>
            <a:rect l="l" t="t" r="r" b="b"/>
            <a:pathLst>
              <a:path w="1928574" h="787828">
                <a:moveTo>
                  <a:pt x="0" y="0"/>
                </a:moveTo>
                <a:lnTo>
                  <a:pt x="1928574" y="0"/>
                </a:lnTo>
                <a:lnTo>
                  <a:pt x="1928574" y="787828"/>
                </a:lnTo>
                <a:lnTo>
                  <a:pt x="0" y="787828"/>
                </a:lnTo>
                <a:close/>
              </a:path>
            </a:pathLst>
          </a:custGeom>
          <a:solidFill>
            <a:srgbClr val="FEFBDB"/>
          </a:solidFill>
        </p:spPr>
        <p:txBody>
          <a:bodyPr lIns="1260000" anchor="ctr"/>
          <a:lstStyle/>
          <a:p>
            <a:r>
              <a:rPr lang="en-US" sz="2800" spc="-150" dirty="0">
                <a:solidFill>
                  <a:srgbClr val="000000"/>
                </a:solidFill>
                <a:latin typeface="SF Mono" panose="020B0009000002000000" pitchFamily="49" charset="0"/>
                <a:ea typeface="JetBrains Mono" panose="02000009000000000000" pitchFamily="49" charset="0"/>
                <a:cs typeface="SF Mono" panose="020B0009000002000000" pitchFamily="49" charset="0"/>
                <a:sym typeface="Bitter"/>
              </a:rPr>
              <a:t>STEM courses increasingly involve computational and data skills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7D67844-F39E-0D64-E12C-579624AF0CDF}"/>
              </a:ext>
            </a:extLst>
          </p:cNvPr>
          <p:cNvSpPr/>
          <p:nvPr/>
        </p:nvSpPr>
        <p:spPr>
          <a:xfrm>
            <a:off x="1859598" y="3216815"/>
            <a:ext cx="15249504" cy="1112027"/>
          </a:xfrm>
          <a:custGeom>
            <a:avLst/>
            <a:gdLst/>
            <a:ahLst/>
            <a:cxnLst/>
            <a:rect l="l" t="t" r="r" b="b"/>
            <a:pathLst>
              <a:path w="1919584" h="787664">
                <a:moveTo>
                  <a:pt x="0" y="0"/>
                </a:moveTo>
                <a:lnTo>
                  <a:pt x="1919584" y="0"/>
                </a:lnTo>
                <a:lnTo>
                  <a:pt x="1919584" y="787664"/>
                </a:lnTo>
                <a:lnTo>
                  <a:pt x="0" y="787664"/>
                </a:lnTo>
                <a:close/>
              </a:path>
            </a:pathLst>
          </a:custGeom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 3">
            <a:extLst>
              <a:ext uri="{FF2B5EF4-FFF2-40B4-BE49-F238E27FC236}">
                <a16:creationId xmlns:a16="http://schemas.microsoft.com/office/drawing/2014/main" id="{11065F39-0BC7-45E1-D3DD-937B6FF3E61A}"/>
              </a:ext>
            </a:extLst>
          </p:cNvPr>
          <p:cNvSpPr/>
          <p:nvPr/>
        </p:nvSpPr>
        <p:spPr>
          <a:xfrm>
            <a:off x="1783672" y="4944469"/>
            <a:ext cx="15249505" cy="1112258"/>
          </a:xfrm>
          <a:custGeom>
            <a:avLst/>
            <a:gdLst/>
            <a:ahLst/>
            <a:cxnLst/>
            <a:rect l="l" t="t" r="r" b="b"/>
            <a:pathLst>
              <a:path w="1928574" h="787828">
                <a:moveTo>
                  <a:pt x="0" y="0"/>
                </a:moveTo>
                <a:lnTo>
                  <a:pt x="1928574" y="0"/>
                </a:lnTo>
                <a:lnTo>
                  <a:pt x="1928574" y="787828"/>
                </a:lnTo>
                <a:lnTo>
                  <a:pt x="0" y="787828"/>
                </a:lnTo>
                <a:close/>
              </a:path>
            </a:pathLst>
          </a:custGeom>
          <a:solidFill>
            <a:srgbClr val="FEFBDB"/>
          </a:solidFill>
        </p:spPr>
        <p:txBody>
          <a:bodyPr lIns="1260000" rIns="0" anchor="ctr"/>
          <a:lstStyle/>
          <a:p>
            <a:r>
              <a:rPr lang="en-US" sz="2600" spc="-250" dirty="0">
                <a:solidFill>
                  <a:srgbClr val="000000"/>
                </a:solidFill>
                <a:latin typeface="SF Mono" panose="020B0009000002000000" pitchFamily="49" charset="0"/>
                <a:ea typeface="JetBrains Mono" panose="02000009000000000000" pitchFamily="49" charset="0"/>
                <a:cs typeface="SF Mono" panose="020B0009000002000000" pitchFamily="49" charset="0"/>
                <a:sym typeface="Bitter"/>
              </a:rPr>
              <a:t>Students have analytical skills but not able to translate them to employability</a:t>
            </a:r>
          </a:p>
        </p:txBody>
      </p:sp>
      <p:sp>
        <p:nvSpPr>
          <p:cNvPr id="53" name="Freeform 6">
            <a:extLst>
              <a:ext uri="{FF2B5EF4-FFF2-40B4-BE49-F238E27FC236}">
                <a16:creationId xmlns:a16="http://schemas.microsoft.com/office/drawing/2014/main" id="{474EFF5D-9811-0D74-AEB6-0DDECF96EB1F}"/>
              </a:ext>
            </a:extLst>
          </p:cNvPr>
          <p:cNvSpPr/>
          <p:nvPr/>
        </p:nvSpPr>
        <p:spPr>
          <a:xfrm>
            <a:off x="1859596" y="4868500"/>
            <a:ext cx="15249506" cy="1112027"/>
          </a:xfrm>
          <a:custGeom>
            <a:avLst/>
            <a:gdLst/>
            <a:ahLst/>
            <a:cxnLst/>
            <a:rect l="l" t="t" r="r" b="b"/>
            <a:pathLst>
              <a:path w="1919584" h="787664">
                <a:moveTo>
                  <a:pt x="0" y="0"/>
                </a:moveTo>
                <a:lnTo>
                  <a:pt x="1919584" y="0"/>
                </a:lnTo>
                <a:lnTo>
                  <a:pt x="1919584" y="787664"/>
                </a:lnTo>
                <a:lnTo>
                  <a:pt x="0" y="787664"/>
                </a:lnTo>
                <a:close/>
              </a:path>
            </a:pathLst>
          </a:custGeom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8" name="Freeform 3">
            <a:extLst>
              <a:ext uri="{FF2B5EF4-FFF2-40B4-BE49-F238E27FC236}">
                <a16:creationId xmlns:a16="http://schemas.microsoft.com/office/drawing/2014/main" id="{06A30216-B4A6-FDD4-E9F1-5E5B2A3FC3D9}"/>
              </a:ext>
            </a:extLst>
          </p:cNvPr>
          <p:cNvSpPr/>
          <p:nvPr/>
        </p:nvSpPr>
        <p:spPr>
          <a:xfrm>
            <a:off x="1783672" y="6530623"/>
            <a:ext cx="15249505" cy="1112258"/>
          </a:xfrm>
          <a:custGeom>
            <a:avLst/>
            <a:gdLst/>
            <a:ahLst/>
            <a:cxnLst/>
            <a:rect l="l" t="t" r="r" b="b"/>
            <a:pathLst>
              <a:path w="1928574" h="787828">
                <a:moveTo>
                  <a:pt x="0" y="0"/>
                </a:moveTo>
                <a:lnTo>
                  <a:pt x="1928574" y="0"/>
                </a:lnTo>
                <a:lnTo>
                  <a:pt x="1928574" y="787828"/>
                </a:lnTo>
                <a:lnTo>
                  <a:pt x="0" y="787828"/>
                </a:lnTo>
                <a:close/>
              </a:path>
            </a:pathLst>
          </a:custGeom>
          <a:solidFill>
            <a:srgbClr val="FEFBDB"/>
          </a:solidFill>
        </p:spPr>
        <p:txBody>
          <a:bodyPr lIns="1260000" anchor="ctr"/>
          <a:lstStyle/>
          <a:p>
            <a:r>
              <a:rPr lang="en-US" sz="2800" spc="-150" dirty="0">
                <a:solidFill>
                  <a:srgbClr val="000000"/>
                </a:solidFill>
                <a:latin typeface="SF Mono" panose="020B0009000002000000" pitchFamily="49" charset="0"/>
                <a:ea typeface="JetBrains Mono" panose="02000009000000000000" pitchFamily="49" charset="0"/>
                <a:cs typeface="SF Mono" panose="020B0009000002000000" pitchFamily="49" charset="0"/>
                <a:sym typeface="Bitter"/>
              </a:rPr>
              <a:t>AI make coding easier to start, but fundamentals still matter</a:t>
            </a:r>
          </a:p>
        </p:txBody>
      </p:sp>
      <p:sp>
        <p:nvSpPr>
          <p:cNvPr id="60" name="Freeform 6">
            <a:extLst>
              <a:ext uri="{FF2B5EF4-FFF2-40B4-BE49-F238E27FC236}">
                <a16:creationId xmlns:a16="http://schemas.microsoft.com/office/drawing/2014/main" id="{631CBB9F-1A18-285F-6E72-60E3177B98E7}"/>
              </a:ext>
            </a:extLst>
          </p:cNvPr>
          <p:cNvSpPr/>
          <p:nvPr/>
        </p:nvSpPr>
        <p:spPr>
          <a:xfrm>
            <a:off x="1859595" y="6454654"/>
            <a:ext cx="15249507" cy="1112027"/>
          </a:xfrm>
          <a:custGeom>
            <a:avLst/>
            <a:gdLst/>
            <a:ahLst/>
            <a:cxnLst/>
            <a:rect l="l" t="t" r="r" b="b"/>
            <a:pathLst>
              <a:path w="1919584" h="787664">
                <a:moveTo>
                  <a:pt x="0" y="0"/>
                </a:moveTo>
                <a:lnTo>
                  <a:pt x="1919584" y="0"/>
                </a:lnTo>
                <a:lnTo>
                  <a:pt x="1919584" y="787664"/>
                </a:lnTo>
                <a:lnTo>
                  <a:pt x="0" y="787664"/>
                </a:lnTo>
                <a:close/>
              </a:path>
            </a:pathLst>
          </a:custGeom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65C4410E-0763-B4C7-6398-A7A6096C49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43" t="17443" r="68627" b="12633"/>
          <a:stretch>
            <a:fillRect/>
          </a:stretch>
        </p:blipFill>
        <p:spPr>
          <a:xfrm>
            <a:off x="1343439" y="3032026"/>
            <a:ext cx="1432846" cy="141935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04514879-B353-3C27-44FD-BB8AFE544B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861" t="17443" r="41610" b="12633"/>
          <a:stretch>
            <a:fillRect/>
          </a:stretch>
        </p:blipFill>
        <p:spPr>
          <a:xfrm>
            <a:off x="1307439" y="4712032"/>
            <a:ext cx="1395940" cy="1382795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E4C75CBA-9F34-61DA-38E4-707AFF9E19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037" t="19795" r="11434" b="10280"/>
          <a:stretch>
            <a:fillRect/>
          </a:stretch>
        </p:blipFill>
        <p:spPr>
          <a:xfrm>
            <a:off x="1234532" y="6359465"/>
            <a:ext cx="1541753" cy="15272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A8F4D3-2156-D628-A07C-367C0D49C3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142" b="33975"/>
          <a:stretch>
            <a:fillRect/>
          </a:stretch>
        </p:blipFill>
        <p:spPr>
          <a:xfrm>
            <a:off x="1866055" y="7920644"/>
            <a:ext cx="15084737" cy="198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58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C8C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236C0-11AF-1EB5-62FD-43F4A9072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9">
            <a:extLst>
              <a:ext uri="{FF2B5EF4-FFF2-40B4-BE49-F238E27FC236}">
                <a16:creationId xmlns:a16="http://schemas.microsoft.com/office/drawing/2014/main" id="{7A74F5D7-DA5A-175F-A091-D074EA662282}"/>
              </a:ext>
            </a:extLst>
          </p:cNvPr>
          <p:cNvSpPr txBox="1"/>
          <p:nvPr/>
        </p:nvSpPr>
        <p:spPr>
          <a:xfrm>
            <a:off x="940250" y="733425"/>
            <a:ext cx="16230600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6000" b="1" dirty="0">
                <a:solidFill>
                  <a:schemeClr val="bg1"/>
                </a:solidFill>
                <a:latin typeface="W95FA" pitchFamily="2" charset="0"/>
                <a:ea typeface="Pixellet TH"/>
                <a:cs typeface="Pixellet TH"/>
                <a:sym typeface="Pixellet TH"/>
              </a:rPr>
              <a:t>CODECAMP: A 5-WEEK PRACTICAL</a:t>
            </a:r>
          </a:p>
          <a:p>
            <a:pPr algn="ctr">
              <a:spcBef>
                <a:spcPct val="0"/>
              </a:spcBef>
            </a:pPr>
            <a:r>
              <a:rPr lang="en-GB" sz="6000" b="1" dirty="0">
                <a:solidFill>
                  <a:schemeClr val="bg1"/>
                </a:solidFill>
                <a:latin typeface="W95FA" pitchFamily="2" charset="0"/>
                <a:ea typeface="Pixellet TH"/>
                <a:cs typeface="Pixellet TH"/>
                <a:sym typeface="Pixellet TH"/>
              </a:rPr>
              <a:t>PYTHON PROGRAMME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7D3045F-AEDD-5456-9426-00F852EBD710}"/>
              </a:ext>
            </a:extLst>
          </p:cNvPr>
          <p:cNvGrpSpPr/>
          <p:nvPr/>
        </p:nvGrpSpPr>
        <p:grpSpPr>
          <a:xfrm>
            <a:off x="6577584" y="2933700"/>
            <a:ext cx="10593266" cy="1822623"/>
            <a:chOff x="6934200" y="3138122"/>
            <a:chExt cx="10212266" cy="1822623"/>
          </a:xfrm>
        </p:grpSpPr>
        <p:sp>
          <p:nvSpPr>
            <p:cNvPr id="33" name="Freeform 3">
              <a:extLst>
                <a:ext uri="{FF2B5EF4-FFF2-40B4-BE49-F238E27FC236}">
                  <a16:creationId xmlns:a16="http://schemas.microsoft.com/office/drawing/2014/main" id="{4848E74E-902B-3D6F-EBE2-CDF920FE616D}"/>
                </a:ext>
              </a:extLst>
            </p:cNvPr>
            <p:cNvSpPr/>
            <p:nvPr/>
          </p:nvSpPr>
          <p:spPr>
            <a:xfrm>
              <a:off x="6934200" y="3232152"/>
              <a:ext cx="10113379" cy="1728593"/>
            </a:xfrm>
            <a:custGeom>
              <a:avLst/>
              <a:gdLst/>
              <a:ahLst/>
              <a:cxnLst/>
              <a:rect l="l" t="t" r="r" b="b"/>
              <a:pathLst>
                <a:path w="1928574" h="787828">
                  <a:moveTo>
                    <a:pt x="0" y="0"/>
                  </a:moveTo>
                  <a:lnTo>
                    <a:pt x="1928574" y="0"/>
                  </a:lnTo>
                  <a:lnTo>
                    <a:pt x="1928574" y="787828"/>
                  </a:lnTo>
                  <a:lnTo>
                    <a:pt x="0" y="787828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lIns="324000" rIns="0" anchor="ctr">
              <a:normAutofit/>
            </a:bodyPr>
            <a:lstStyle/>
            <a:p>
              <a:r>
                <a:rPr lang="en-GB" sz="2800" spc="-150" dirty="0">
                  <a:latin typeface="SF Mono" panose="020B0009000002000000" pitchFamily="49" charset="0"/>
                  <a:cs typeface="SF Mono" panose="020B0009000002000000" pitchFamily="49" charset="0"/>
                </a:rPr>
                <a:t>Core programming concepts, functions, data structures, debugging and best coding practices</a:t>
              </a: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C52A1F13-CDC0-35F1-3867-AB9B2129C1BE}"/>
                </a:ext>
              </a:extLst>
            </p:cNvPr>
            <p:cNvSpPr/>
            <p:nvPr/>
          </p:nvSpPr>
          <p:spPr>
            <a:xfrm>
              <a:off x="7033087" y="3138122"/>
              <a:ext cx="10113379" cy="1728234"/>
            </a:xfrm>
            <a:custGeom>
              <a:avLst/>
              <a:gdLst/>
              <a:ahLst/>
              <a:cxnLst/>
              <a:rect l="l" t="t" r="r" b="b"/>
              <a:pathLst>
                <a:path w="1919584" h="787664">
                  <a:moveTo>
                    <a:pt x="0" y="0"/>
                  </a:moveTo>
                  <a:lnTo>
                    <a:pt x="1919584" y="0"/>
                  </a:lnTo>
                  <a:lnTo>
                    <a:pt x="1919584" y="787664"/>
                  </a:lnTo>
                  <a:lnTo>
                    <a:pt x="0" y="787664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EFE113B-39A0-B1B1-4293-7C7E3EEDB1D1}"/>
              </a:ext>
            </a:extLst>
          </p:cNvPr>
          <p:cNvGrpSpPr/>
          <p:nvPr/>
        </p:nvGrpSpPr>
        <p:grpSpPr>
          <a:xfrm>
            <a:off x="6577584" y="5276412"/>
            <a:ext cx="10596314" cy="1822623"/>
            <a:chOff x="6934200" y="3138122"/>
            <a:chExt cx="10212266" cy="1822623"/>
          </a:xfrm>
        </p:grpSpPr>
        <p:sp>
          <p:nvSpPr>
            <p:cNvPr id="37" name="Freeform 3">
              <a:extLst>
                <a:ext uri="{FF2B5EF4-FFF2-40B4-BE49-F238E27FC236}">
                  <a16:creationId xmlns:a16="http://schemas.microsoft.com/office/drawing/2014/main" id="{3513A8D0-E48D-E25A-360A-3E12975FC28C}"/>
                </a:ext>
              </a:extLst>
            </p:cNvPr>
            <p:cNvSpPr/>
            <p:nvPr/>
          </p:nvSpPr>
          <p:spPr>
            <a:xfrm>
              <a:off x="6934200" y="3232152"/>
              <a:ext cx="10113379" cy="1728593"/>
            </a:xfrm>
            <a:custGeom>
              <a:avLst/>
              <a:gdLst/>
              <a:ahLst/>
              <a:cxnLst/>
              <a:rect l="l" t="t" r="r" b="b"/>
              <a:pathLst>
                <a:path w="1928574" h="787828">
                  <a:moveTo>
                    <a:pt x="0" y="0"/>
                  </a:moveTo>
                  <a:lnTo>
                    <a:pt x="1928574" y="0"/>
                  </a:lnTo>
                  <a:lnTo>
                    <a:pt x="1928574" y="787828"/>
                  </a:lnTo>
                  <a:lnTo>
                    <a:pt x="0" y="787828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lIns="324000" rIns="0" anchor="ctr">
              <a:normAutofit/>
            </a:bodyPr>
            <a:lstStyle/>
            <a:p>
              <a:r>
                <a:rPr lang="en-GB" sz="2800" spc="-150" dirty="0">
                  <a:latin typeface="SF Mono" panose="020B0009000002000000" pitchFamily="49" charset="0"/>
                  <a:cs typeface="SF Mono" panose="020B0009000002000000" pitchFamily="49" charset="0"/>
                </a:rPr>
                <a:t>Apply Python to real STEM data by learning how to clean, analyse and visualise datasets</a:t>
              </a:r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E82CB61E-B97B-9984-B670-6098544B3CD9}"/>
                </a:ext>
              </a:extLst>
            </p:cNvPr>
            <p:cNvSpPr/>
            <p:nvPr/>
          </p:nvSpPr>
          <p:spPr>
            <a:xfrm>
              <a:off x="7033087" y="3138122"/>
              <a:ext cx="10113379" cy="1728234"/>
            </a:xfrm>
            <a:custGeom>
              <a:avLst/>
              <a:gdLst/>
              <a:ahLst/>
              <a:cxnLst/>
              <a:rect l="l" t="t" r="r" b="b"/>
              <a:pathLst>
                <a:path w="1919584" h="787664">
                  <a:moveTo>
                    <a:pt x="0" y="0"/>
                  </a:moveTo>
                  <a:lnTo>
                    <a:pt x="1919584" y="0"/>
                  </a:lnTo>
                  <a:lnTo>
                    <a:pt x="1919584" y="787664"/>
                  </a:lnTo>
                  <a:lnTo>
                    <a:pt x="0" y="787664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05332BF-E0DB-952B-E3B9-FDC17B425BA1}"/>
              </a:ext>
            </a:extLst>
          </p:cNvPr>
          <p:cNvGrpSpPr/>
          <p:nvPr/>
        </p:nvGrpSpPr>
        <p:grpSpPr>
          <a:xfrm>
            <a:off x="6577584" y="7612601"/>
            <a:ext cx="10642709" cy="1822623"/>
            <a:chOff x="6934200" y="3138122"/>
            <a:chExt cx="10212266" cy="1822623"/>
          </a:xfrm>
        </p:grpSpPr>
        <p:sp>
          <p:nvSpPr>
            <p:cNvPr id="40" name="Freeform 3">
              <a:extLst>
                <a:ext uri="{FF2B5EF4-FFF2-40B4-BE49-F238E27FC236}">
                  <a16:creationId xmlns:a16="http://schemas.microsoft.com/office/drawing/2014/main" id="{920A6890-52B3-D4AC-3C83-2A2BDDA283F8}"/>
                </a:ext>
              </a:extLst>
            </p:cNvPr>
            <p:cNvSpPr/>
            <p:nvPr/>
          </p:nvSpPr>
          <p:spPr>
            <a:xfrm>
              <a:off x="6934200" y="3232152"/>
              <a:ext cx="10113379" cy="1728593"/>
            </a:xfrm>
            <a:custGeom>
              <a:avLst/>
              <a:gdLst/>
              <a:ahLst/>
              <a:cxnLst/>
              <a:rect l="l" t="t" r="r" b="b"/>
              <a:pathLst>
                <a:path w="1928574" h="787828">
                  <a:moveTo>
                    <a:pt x="0" y="0"/>
                  </a:moveTo>
                  <a:lnTo>
                    <a:pt x="1928574" y="0"/>
                  </a:lnTo>
                  <a:lnTo>
                    <a:pt x="1928574" y="787828"/>
                  </a:lnTo>
                  <a:lnTo>
                    <a:pt x="0" y="787828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lIns="324000" rIns="0" anchor="ctr">
              <a:normAutofit/>
            </a:bodyPr>
            <a:lstStyle/>
            <a:p>
              <a:r>
                <a:rPr lang="en-GB" sz="2800" spc="-150" dirty="0">
                  <a:latin typeface="SF Mono" panose="020B0009000002000000" pitchFamily="49" charset="0"/>
                  <a:cs typeface="SF Mono" panose="020B0009000002000000" pitchFamily="49" charset="0"/>
                </a:rPr>
                <a:t>Use GitHub and simple deployment tools to build, publish and share a working Python project</a:t>
              </a:r>
            </a:p>
          </p:txBody>
        </p:sp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7DBE8C85-0BD9-A7DF-8BAF-074CBAAABA37}"/>
                </a:ext>
              </a:extLst>
            </p:cNvPr>
            <p:cNvSpPr/>
            <p:nvPr/>
          </p:nvSpPr>
          <p:spPr>
            <a:xfrm>
              <a:off x="7033087" y="3138122"/>
              <a:ext cx="10113379" cy="1728234"/>
            </a:xfrm>
            <a:custGeom>
              <a:avLst/>
              <a:gdLst/>
              <a:ahLst/>
              <a:cxnLst/>
              <a:rect l="l" t="t" r="r" b="b"/>
              <a:pathLst>
                <a:path w="1919584" h="787664">
                  <a:moveTo>
                    <a:pt x="0" y="0"/>
                  </a:moveTo>
                  <a:lnTo>
                    <a:pt x="1919584" y="0"/>
                  </a:lnTo>
                  <a:lnTo>
                    <a:pt x="1919584" y="787664"/>
                  </a:lnTo>
                  <a:lnTo>
                    <a:pt x="0" y="787664"/>
                  </a:ln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CB5E77F5-42B6-B7D9-1243-CBD16D742A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52" t="17699" r="68078" b="19518"/>
          <a:stretch>
            <a:fillRect/>
          </a:stretch>
        </p:blipFill>
        <p:spPr>
          <a:xfrm>
            <a:off x="1243584" y="3031728"/>
            <a:ext cx="2057400" cy="162656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64DA0F2-193C-83EB-154F-BCD8E81BC7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084" t="16000" r="4465" b="22517"/>
          <a:stretch>
            <a:fillRect/>
          </a:stretch>
        </p:blipFill>
        <p:spPr>
          <a:xfrm>
            <a:off x="1243584" y="7727466"/>
            <a:ext cx="2133601" cy="159289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19A1A7B-ECFA-9984-6112-AE5169BAAA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805" t="17700" r="38123" b="20818"/>
          <a:stretch>
            <a:fillRect/>
          </a:stretch>
        </p:blipFill>
        <p:spPr>
          <a:xfrm>
            <a:off x="1319784" y="5391277"/>
            <a:ext cx="1871033" cy="159289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6B7594BE-1B0F-D1A6-E58A-DB75718069EE}"/>
              </a:ext>
            </a:extLst>
          </p:cNvPr>
          <p:cNvSpPr txBox="1"/>
          <p:nvPr/>
        </p:nvSpPr>
        <p:spPr>
          <a:xfrm>
            <a:off x="3517278" y="2967848"/>
            <a:ext cx="28317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W95FA" pitchFamily="2" charset="0"/>
              </a:rPr>
              <a:t>WEEK 1-3:</a:t>
            </a:r>
          </a:p>
          <a:p>
            <a:r>
              <a:rPr lang="en-US" sz="3600" dirty="0">
                <a:solidFill>
                  <a:schemeClr val="bg1"/>
                </a:solidFill>
                <a:latin typeface="W95FA" pitchFamily="2" charset="0"/>
              </a:rPr>
              <a:t>Python</a:t>
            </a:r>
          </a:p>
          <a:p>
            <a:r>
              <a:rPr lang="en-US" sz="3600" dirty="0">
                <a:solidFill>
                  <a:schemeClr val="bg1"/>
                </a:solidFill>
                <a:latin typeface="W95FA" pitchFamily="2" charset="0"/>
              </a:rPr>
              <a:t>fundamentals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72A7BF-4332-BDBF-E9C0-FA1D2042EF92}"/>
              </a:ext>
            </a:extLst>
          </p:cNvPr>
          <p:cNvSpPr txBox="1"/>
          <p:nvPr/>
        </p:nvSpPr>
        <p:spPr>
          <a:xfrm>
            <a:off x="3566046" y="5587559"/>
            <a:ext cx="27829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W95FA" pitchFamily="2" charset="0"/>
              </a:rPr>
              <a:t>WEEK 4:</a:t>
            </a:r>
          </a:p>
          <a:p>
            <a:r>
              <a:rPr lang="en-US" sz="3600" dirty="0">
                <a:solidFill>
                  <a:schemeClr val="bg1"/>
                </a:solidFill>
                <a:latin typeface="W95FA" pitchFamily="2" charset="0"/>
              </a:rPr>
              <a:t>Data analysis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C23790-C547-E99E-DE2E-53C03DA3EE59}"/>
              </a:ext>
            </a:extLst>
          </p:cNvPr>
          <p:cNvSpPr txBox="1"/>
          <p:nvPr/>
        </p:nvSpPr>
        <p:spPr>
          <a:xfrm>
            <a:off x="3573493" y="7923748"/>
            <a:ext cx="2775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W95FA" pitchFamily="2" charset="0"/>
              </a:rPr>
              <a:t>WEEK 5:</a:t>
            </a:r>
          </a:p>
          <a:p>
            <a:r>
              <a:rPr lang="en-US" sz="3600" dirty="0">
                <a:solidFill>
                  <a:schemeClr val="bg1"/>
                </a:solidFill>
                <a:latin typeface="W95FA" pitchFamily="2" charset="0"/>
              </a:rPr>
              <a:t>Build &amp; share</a:t>
            </a:r>
          </a:p>
        </p:txBody>
      </p:sp>
    </p:spTree>
    <p:extLst>
      <p:ext uri="{BB962C8B-B14F-4D97-AF65-F5344CB8AC3E}">
        <p14:creationId xmlns:p14="http://schemas.microsoft.com/office/powerpoint/2010/main" val="24057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DDCC1-98EA-550B-EACC-90902A06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29">
            <a:extLst>
              <a:ext uri="{FF2B5EF4-FFF2-40B4-BE49-F238E27FC236}">
                <a16:creationId xmlns:a16="http://schemas.microsoft.com/office/drawing/2014/main" id="{30DB90E8-0480-5701-89C8-9EF201613340}"/>
              </a:ext>
            </a:extLst>
          </p:cNvPr>
          <p:cNvSpPr txBox="1"/>
          <p:nvPr/>
        </p:nvSpPr>
        <p:spPr>
          <a:xfrm>
            <a:off x="940250" y="733425"/>
            <a:ext cx="16230600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6000" b="1" dirty="0">
                <a:solidFill>
                  <a:srgbClr val="57C8C7"/>
                </a:solidFill>
                <a:latin typeface="W95FA" pitchFamily="2" charset="0"/>
                <a:ea typeface="Pixellet TH"/>
                <a:cs typeface="Pixellet TH"/>
                <a:sym typeface="Pixellet TH"/>
              </a:rPr>
              <a:t>CODECAMP AIMS TO MAKE</a:t>
            </a:r>
          </a:p>
          <a:p>
            <a:pPr algn="ctr">
              <a:spcBef>
                <a:spcPct val="0"/>
              </a:spcBef>
            </a:pPr>
            <a:r>
              <a:rPr lang="en-US" sz="6000" b="1" dirty="0">
                <a:solidFill>
                  <a:srgbClr val="57C8C7"/>
                </a:solidFill>
                <a:latin typeface="W95FA" pitchFamily="2" charset="0"/>
                <a:ea typeface="Pixellet TH"/>
                <a:cs typeface="Pixellet TH"/>
                <a:sym typeface="Pixellet TH"/>
              </a:rPr>
              <a:t>ALL STEM STUDENTS CONFIDENT CODERS</a:t>
            </a: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909C25F5-1907-D54D-8ED8-4E6BFB3C123E}"/>
              </a:ext>
            </a:extLst>
          </p:cNvPr>
          <p:cNvSpPr/>
          <p:nvPr/>
        </p:nvSpPr>
        <p:spPr>
          <a:xfrm>
            <a:off x="999011" y="3817879"/>
            <a:ext cx="4876800" cy="5812536"/>
          </a:xfrm>
          <a:prstGeom prst="rect">
            <a:avLst/>
          </a:prstGeom>
          <a:solidFill>
            <a:srgbClr val="BFBFBF">
              <a:alpha val="85000"/>
            </a:srgbClr>
          </a:solidFill>
          <a:ln w="12700">
            <a:solidFill>
              <a:srgbClr val="BFBF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EEB1AFE3-1D72-A959-50B4-DB9878F3FE2D}"/>
              </a:ext>
            </a:extLst>
          </p:cNvPr>
          <p:cNvSpPr/>
          <p:nvPr/>
        </p:nvSpPr>
        <p:spPr>
          <a:xfrm>
            <a:off x="829788" y="3628903"/>
            <a:ext cx="4876801" cy="5812536"/>
          </a:xfrm>
          <a:prstGeom prst="rect">
            <a:avLst/>
          </a:prstGeom>
          <a:solidFill>
            <a:srgbClr val="FFF9D9"/>
          </a:solidFill>
          <a:ln w="635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1076AE28-D8BD-0CE9-A82D-9F311919D6A7}"/>
              </a:ext>
            </a:extLst>
          </p:cNvPr>
          <p:cNvSpPr/>
          <p:nvPr/>
        </p:nvSpPr>
        <p:spPr>
          <a:xfrm>
            <a:off x="829789" y="3628903"/>
            <a:ext cx="4876800" cy="737406"/>
          </a:xfrm>
          <a:prstGeom prst="rect">
            <a:avLst/>
          </a:prstGeom>
          <a:solidFill>
            <a:srgbClr val="2DB8C3"/>
          </a:solidFill>
          <a:ln w="63500">
            <a:solidFill>
              <a:schemeClr val="tx1"/>
            </a:solidFill>
            <a:prstDash val="solid"/>
          </a:ln>
        </p:spPr>
        <p:txBody>
          <a:bodyPr lIns="180000"/>
          <a:lstStyle/>
          <a:p>
            <a:endParaRPr lang="en-US" sz="4000" b="1" dirty="0">
              <a:latin typeface="W95FA" pitchFamily="2" charset="0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7A1DBF7F-BBA6-F874-B120-3C30FD5C99AE}"/>
              </a:ext>
            </a:extLst>
          </p:cNvPr>
          <p:cNvSpPr/>
          <p:nvPr/>
        </p:nvSpPr>
        <p:spPr>
          <a:xfrm>
            <a:off x="999010" y="6713479"/>
            <a:ext cx="4515082" cy="156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W95FA" pitchFamily="2" charset="0"/>
                <a:ea typeface="Consolas" pitchFamily="34" charset="-122"/>
                <a:cs typeface="Consolas" pitchFamily="34" charset="-120"/>
              </a:rPr>
              <a:t>CODE WITH</a:t>
            </a:r>
            <a:endParaRPr lang="en-US" sz="4400" b="1" dirty="0">
              <a:latin typeface="W95FA" pitchFamily="2" charset="0"/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W95FA" pitchFamily="2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4400" b="1" dirty="0">
              <a:latin typeface="W95FA" pitchFamily="2" charset="0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6A69132E-1497-37BA-9604-250CD43F1F09}"/>
              </a:ext>
            </a:extLst>
          </p:cNvPr>
          <p:cNvSpPr/>
          <p:nvPr/>
        </p:nvSpPr>
        <p:spPr>
          <a:xfrm>
            <a:off x="999011" y="8389879"/>
            <a:ext cx="4515081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2400" spc="-150" dirty="0">
                <a:solidFill>
                  <a:srgbClr val="000000"/>
                </a:solidFill>
                <a:latin typeface="SF Mono" panose="020B0009000002000000" pitchFamily="49" charset="0"/>
                <a:ea typeface="Consolas" pitchFamily="34" charset="-122"/>
                <a:cs typeface="SF Mono" panose="020B0009000002000000" pitchFamily="49" charset="0"/>
              </a:rPr>
              <a:t>Use Python</a:t>
            </a:r>
          </a:p>
          <a:p>
            <a:pPr marL="0" indent="0" algn="ctr">
              <a:buNone/>
            </a:pPr>
            <a:r>
              <a:rPr lang="en-US" sz="2400" spc="-150" dirty="0">
                <a:solidFill>
                  <a:srgbClr val="000000"/>
                </a:solidFill>
                <a:latin typeface="SF Mono" panose="020B0009000002000000" pitchFamily="49" charset="0"/>
                <a:ea typeface="Consolas" pitchFamily="34" charset="-122"/>
                <a:cs typeface="SF Mono" panose="020B0009000002000000" pitchFamily="49" charset="0"/>
              </a:rPr>
              <a:t>independently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121C356-503B-3389-4337-B730C82DB6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85" t="25411" r="70588" b="22888"/>
          <a:stretch>
            <a:fillRect/>
          </a:stretch>
        </p:blipFill>
        <p:spPr>
          <a:xfrm>
            <a:off x="1657963" y="4622065"/>
            <a:ext cx="3220450" cy="2076682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2333DD15-D9FC-9F31-793D-246DC79545CB}"/>
              </a:ext>
            </a:extLst>
          </p:cNvPr>
          <p:cNvGrpSpPr/>
          <p:nvPr/>
        </p:nvGrpSpPr>
        <p:grpSpPr>
          <a:xfrm>
            <a:off x="4981285" y="3720725"/>
            <a:ext cx="589726" cy="553762"/>
            <a:chOff x="8511876" y="10850252"/>
            <a:chExt cx="708324" cy="66512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86A05C7-BBC7-B08A-BB29-BD9E81B3E019}"/>
                </a:ext>
              </a:extLst>
            </p:cNvPr>
            <p:cNvSpPr/>
            <p:nvPr/>
          </p:nvSpPr>
          <p:spPr>
            <a:xfrm>
              <a:off x="8562109" y="10895303"/>
              <a:ext cx="589726" cy="558000"/>
            </a:xfrm>
            <a:prstGeom prst="rect">
              <a:avLst/>
            </a:prstGeom>
            <a:solidFill>
              <a:srgbClr val="FEFB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007B72F-E603-5141-FC4D-174C03961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4276" t="26927" r="23536" b="24067"/>
            <a:stretch>
              <a:fillRect/>
            </a:stretch>
          </p:blipFill>
          <p:spPr>
            <a:xfrm>
              <a:off x="8511876" y="10850252"/>
              <a:ext cx="708324" cy="665127"/>
            </a:xfrm>
            <a:prstGeom prst="rect">
              <a:avLst/>
            </a:prstGeom>
          </p:spPr>
        </p:pic>
      </p:grpSp>
      <p:sp>
        <p:nvSpPr>
          <p:cNvPr id="74" name="Shape 12">
            <a:extLst>
              <a:ext uri="{FF2B5EF4-FFF2-40B4-BE49-F238E27FC236}">
                <a16:creationId xmlns:a16="http://schemas.microsoft.com/office/drawing/2014/main" id="{50E2DB50-6B22-31A3-C8D6-9C97BD7509DB}"/>
              </a:ext>
            </a:extLst>
          </p:cNvPr>
          <p:cNvSpPr/>
          <p:nvPr/>
        </p:nvSpPr>
        <p:spPr>
          <a:xfrm>
            <a:off x="6828609" y="3817879"/>
            <a:ext cx="4876800" cy="5812536"/>
          </a:xfrm>
          <a:prstGeom prst="rect">
            <a:avLst/>
          </a:prstGeom>
          <a:solidFill>
            <a:srgbClr val="BFBFBF">
              <a:alpha val="85000"/>
            </a:srgbClr>
          </a:solidFill>
          <a:ln w="12700">
            <a:solidFill>
              <a:srgbClr val="BFBF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13">
            <a:extLst>
              <a:ext uri="{FF2B5EF4-FFF2-40B4-BE49-F238E27FC236}">
                <a16:creationId xmlns:a16="http://schemas.microsoft.com/office/drawing/2014/main" id="{FDC0F070-110F-E133-478D-A7012B765497}"/>
              </a:ext>
            </a:extLst>
          </p:cNvPr>
          <p:cNvSpPr/>
          <p:nvPr/>
        </p:nvSpPr>
        <p:spPr>
          <a:xfrm>
            <a:off x="6659386" y="3628903"/>
            <a:ext cx="4876801" cy="5812536"/>
          </a:xfrm>
          <a:prstGeom prst="rect">
            <a:avLst/>
          </a:prstGeom>
          <a:solidFill>
            <a:srgbClr val="FFF9D9"/>
          </a:solidFill>
          <a:ln w="635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14">
            <a:extLst>
              <a:ext uri="{FF2B5EF4-FFF2-40B4-BE49-F238E27FC236}">
                <a16:creationId xmlns:a16="http://schemas.microsoft.com/office/drawing/2014/main" id="{7AE2DE3B-9151-68B1-089D-8490D2376DFE}"/>
              </a:ext>
            </a:extLst>
          </p:cNvPr>
          <p:cNvSpPr/>
          <p:nvPr/>
        </p:nvSpPr>
        <p:spPr>
          <a:xfrm>
            <a:off x="6659387" y="3628903"/>
            <a:ext cx="4876800" cy="737406"/>
          </a:xfrm>
          <a:prstGeom prst="rect">
            <a:avLst/>
          </a:prstGeom>
          <a:solidFill>
            <a:srgbClr val="2DB8C3"/>
          </a:solidFill>
          <a:ln w="63500">
            <a:solidFill>
              <a:schemeClr val="tx1"/>
            </a:solidFill>
            <a:prstDash val="solid"/>
          </a:ln>
        </p:spPr>
        <p:txBody>
          <a:bodyPr lIns="180000"/>
          <a:lstStyle/>
          <a:p>
            <a:endParaRPr lang="en-US" sz="4000" b="1" dirty="0">
              <a:latin typeface="W95FA" pitchFamily="2" charset="0"/>
            </a:endParaRPr>
          </a:p>
        </p:txBody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B0830617-98C1-6AFC-A349-F5E68CC49A06}"/>
              </a:ext>
            </a:extLst>
          </p:cNvPr>
          <p:cNvSpPr/>
          <p:nvPr/>
        </p:nvSpPr>
        <p:spPr>
          <a:xfrm>
            <a:off x="6828608" y="6713479"/>
            <a:ext cx="4515082" cy="156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W95FA" pitchFamily="2" charset="0"/>
                <a:cs typeface="Consolas" pitchFamily="34" charset="-120"/>
              </a:rPr>
              <a:t>BECOME INDEPENDENT LEARNERS</a:t>
            </a:r>
            <a:endParaRPr lang="en-US" sz="4400" b="1" dirty="0">
              <a:latin typeface="W95FA" pitchFamily="2" charset="0"/>
            </a:endParaRPr>
          </a:p>
        </p:txBody>
      </p:sp>
      <p:sp>
        <p:nvSpPr>
          <p:cNvPr id="78" name="Text 29">
            <a:extLst>
              <a:ext uri="{FF2B5EF4-FFF2-40B4-BE49-F238E27FC236}">
                <a16:creationId xmlns:a16="http://schemas.microsoft.com/office/drawing/2014/main" id="{F3E3B37F-F92D-61B7-CA9A-1F30F31182E8}"/>
              </a:ext>
            </a:extLst>
          </p:cNvPr>
          <p:cNvSpPr/>
          <p:nvPr/>
        </p:nvSpPr>
        <p:spPr>
          <a:xfrm>
            <a:off x="6828609" y="8389879"/>
            <a:ext cx="4515081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2400" spc="-300" dirty="0">
                <a:solidFill>
                  <a:srgbClr val="000000"/>
                </a:solidFill>
                <a:latin typeface="SF Mono" panose="020B0009000002000000" pitchFamily="49" charset="0"/>
                <a:ea typeface="Consolas" pitchFamily="34" charset="-122"/>
                <a:cs typeface="SF Mono" panose="020B0009000002000000" pitchFamily="49" charset="0"/>
              </a:rPr>
              <a:t>Build the skills to pick up new tools and languages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CF7F369-3C65-6879-A692-B43FA19DAAE7}"/>
              </a:ext>
            </a:extLst>
          </p:cNvPr>
          <p:cNvGrpSpPr/>
          <p:nvPr/>
        </p:nvGrpSpPr>
        <p:grpSpPr>
          <a:xfrm>
            <a:off x="10810883" y="3720725"/>
            <a:ext cx="589726" cy="553762"/>
            <a:chOff x="8511876" y="10850252"/>
            <a:chExt cx="708324" cy="665127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F582C35-4786-ABBC-04F7-64D7E0E015AB}"/>
                </a:ext>
              </a:extLst>
            </p:cNvPr>
            <p:cNvSpPr/>
            <p:nvPr/>
          </p:nvSpPr>
          <p:spPr>
            <a:xfrm>
              <a:off x="8562109" y="10895303"/>
              <a:ext cx="589726" cy="558000"/>
            </a:xfrm>
            <a:prstGeom prst="rect">
              <a:avLst/>
            </a:prstGeom>
            <a:solidFill>
              <a:srgbClr val="FEFB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72E95BD8-8207-B6A8-34BA-91BD6FB06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4276" t="26927" r="23536" b="24067"/>
            <a:stretch>
              <a:fillRect/>
            </a:stretch>
          </p:blipFill>
          <p:spPr>
            <a:xfrm>
              <a:off x="8511876" y="10850252"/>
              <a:ext cx="708324" cy="665127"/>
            </a:xfrm>
            <a:prstGeom prst="rect">
              <a:avLst/>
            </a:prstGeom>
          </p:spPr>
        </p:pic>
      </p:grpSp>
      <p:sp>
        <p:nvSpPr>
          <p:cNvPr id="84" name="Shape 12">
            <a:extLst>
              <a:ext uri="{FF2B5EF4-FFF2-40B4-BE49-F238E27FC236}">
                <a16:creationId xmlns:a16="http://schemas.microsoft.com/office/drawing/2014/main" id="{A946B11B-4A0F-C13C-E569-91C0199D453F}"/>
              </a:ext>
            </a:extLst>
          </p:cNvPr>
          <p:cNvSpPr/>
          <p:nvPr/>
        </p:nvSpPr>
        <p:spPr>
          <a:xfrm>
            <a:off x="12658208" y="3792479"/>
            <a:ext cx="4876800" cy="5812536"/>
          </a:xfrm>
          <a:prstGeom prst="rect">
            <a:avLst/>
          </a:prstGeom>
          <a:solidFill>
            <a:srgbClr val="BFBFBF">
              <a:alpha val="85000"/>
            </a:srgbClr>
          </a:solidFill>
          <a:ln w="12700">
            <a:solidFill>
              <a:srgbClr val="BFBF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13">
            <a:extLst>
              <a:ext uri="{FF2B5EF4-FFF2-40B4-BE49-F238E27FC236}">
                <a16:creationId xmlns:a16="http://schemas.microsoft.com/office/drawing/2014/main" id="{2C1DCE5B-8770-8154-A474-16AD46AB4906}"/>
              </a:ext>
            </a:extLst>
          </p:cNvPr>
          <p:cNvSpPr/>
          <p:nvPr/>
        </p:nvSpPr>
        <p:spPr>
          <a:xfrm>
            <a:off x="12488985" y="3603503"/>
            <a:ext cx="4876801" cy="5812536"/>
          </a:xfrm>
          <a:prstGeom prst="rect">
            <a:avLst/>
          </a:prstGeom>
          <a:solidFill>
            <a:srgbClr val="FFF9D9"/>
          </a:solidFill>
          <a:ln w="635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14">
            <a:extLst>
              <a:ext uri="{FF2B5EF4-FFF2-40B4-BE49-F238E27FC236}">
                <a16:creationId xmlns:a16="http://schemas.microsoft.com/office/drawing/2014/main" id="{DC793BDA-F3ED-BC2E-C2A6-A3DF9F40C650}"/>
              </a:ext>
            </a:extLst>
          </p:cNvPr>
          <p:cNvSpPr/>
          <p:nvPr/>
        </p:nvSpPr>
        <p:spPr>
          <a:xfrm>
            <a:off x="12488986" y="3603503"/>
            <a:ext cx="4876800" cy="737406"/>
          </a:xfrm>
          <a:prstGeom prst="rect">
            <a:avLst/>
          </a:prstGeom>
          <a:solidFill>
            <a:srgbClr val="2DB8C3"/>
          </a:solidFill>
          <a:ln w="63500">
            <a:solidFill>
              <a:schemeClr val="tx1"/>
            </a:solidFill>
            <a:prstDash val="solid"/>
          </a:ln>
        </p:spPr>
        <p:txBody>
          <a:bodyPr lIns="180000"/>
          <a:lstStyle/>
          <a:p>
            <a:endParaRPr lang="en-US" sz="4000" b="1" dirty="0">
              <a:latin typeface="W95FA" pitchFamily="2" charset="0"/>
            </a:endParaRPr>
          </a:p>
        </p:txBody>
      </p:sp>
      <p:sp>
        <p:nvSpPr>
          <p:cNvPr id="87" name="Text 28">
            <a:extLst>
              <a:ext uri="{FF2B5EF4-FFF2-40B4-BE49-F238E27FC236}">
                <a16:creationId xmlns:a16="http://schemas.microsoft.com/office/drawing/2014/main" id="{C531EEFB-4EE6-E79A-C247-11DC00499777}"/>
              </a:ext>
            </a:extLst>
          </p:cNvPr>
          <p:cNvSpPr/>
          <p:nvPr/>
        </p:nvSpPr>
        <p:spPr>
          <a:xfrm>
            <a:off x="12658207" y="6688079"/>
            <a:ext cx="4515082" cy="156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W95FA" pitchFamily="2" charset="0"/>
                <a:cs typeface="Consolas" pitchFamily="34" charset="-120"/>
              </a:rPr>
              <a:t>EXPAND</a:t>
            </a:r>
          </a:p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W95FA" pitchFamily="2" charset="0"/>
                <a:cs typeface="Consolas" pitchFamily="34" charset="-120"/>
              </a:rPr>
              <a:t>CAREER OPTIONS</a:t>
            </a:r>
            <a:endParaRPr lang="en-US" sz="4400" b="1" dirty="0">
              <a:latin typeface="W95FA" pitchFamily="2" charset="0"/>
            </a:endParaRPr>
          </a:p>
        </p:txBody>
      </p:sp>
      <p:sp>
        <p:nvSpPr>
          <p:cNvPr id="88" name="Text 29">
            <a:extLst>
              <a:ext uri="{FF2B5EF4-FFF2-40B4-BE49-F238E27FC236}">
                <a16:creationId xmlns:a16="http://schemas.microsoft.com/office/drawing/2014/main" id="{A07E8445-0ED1-C7B1-EBF6-0C31B5A5C3B9}"/>
              </a:ext>
            </a:extLst>
          </p:cNvPr>
          <p:cNvSpPr/>
          <p:nvPr/>
        </p:nvSpPr>
        <p:spPr>
          <a:xfrm>
            <a:off x="12658208" y="8364479"/>
            <a:ext cx="4515081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GB" sz="2400" spc="-150" noProof="0" dirty="0">
                <a:solidFill>
                  <a:srgbClr val="000000"/>
                </a:solidFill>
                <a:latin typeface="SF Mono" panose="020B0009000002000000" pitchFamily="49" charset="0"/>
                <a:ea typeface="Consolas" pitchFamily="34" charset="-122"/>
                <a:cs typeface="SF Mono" panose="020B0009000002000000" pitchFamily="49" charset="0"/>
              </a:rPr>
              <a:t>Recognise coding as </a:t>
            </a:r>
          </a:p>
          <a:p>
            <a:pPr marL="0" indent="0" algn="ctr">
              <a:buNone/>
            </a:pPr>
            <a:r>
              <a:rPr lang="en-GB" sz="2400" spc="-150" noProof="0" dirty="0">
                <a:solidFill>
                  <a:srgbClr val="000000"/>
                </a:solidFill>
                <a:latin typeface="SF Mono" panose="020B0009000002000000" pitchFamily="49" charset="0"/>
                <a:ea typeface="Consolas" pitchFamily="34" charset="-122"/>
                <a:cs typeface="SF Mono" panose="020B0009000002000000" pitchFamily="49" charset="0"/>
              </a:rPr>
              <a:t>future career paths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95ACD6A-6315-2099-9837-F356B2A0564A}"/>
              </a:ext>
            </a:extLst>
          </p:cNvPr>
          <p:cNvGrpSpPr/>
          <p:nvPr/>
        </p:nvGrpSpPr>
        <p:grpSpPr>
          <a:xfrm>
            <a:off x="16640482" y="3695325"/>
            <a:ext cx="589726" cy="553762"/>
            <a:chOff x="8511876" y="10850252"/>
            <a:chExt cx="708324" cy="665127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98A6607-D803-4A46-FD87-DD1D4C8005E5}"/>
                </a:ext>
              </a:extLst>
            </p:cNvPr>
            <p:cNvSpPr/>
            <p:nvPr/>
          </p:nvSpPr>
          <p:spPr>
            <a:xfrm>
              <a:off x="8562109" y="10895303"/>
              <a:ext cx="589726" cy="558000"/>
            </a:xfrm>
            <a:prstGeom prst="rect">
              <a:avLst/>
            </a:prstGeom>
            <a:solidFill>
              <a:srgbClr val="FEFB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10547AD7-F74E-925E-2A3D-A72C698A3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4276" t="26927" r="23536" b="24067"/>
            <a:stretch>
              <a:fillRect/>
            </a:stretch>
          </p:blipFill>
          <p:spPr>
            <a:xfrm>
              <a:off x="8511876" y="10850252"/>
              <a:ext cx="708324" cy="665127"/>
            </a:xfrm>
            <a:prstGeom prst="rect">
              <a:avLst/>
            </a:prstGeom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7D562128-5225-DF73-869C-B5CCCD3A2A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74" t="28722" r="40599" b="27531"/>
          <a:stretch>
            <a:fillRect/>
          </a:stretch>
        </p:blipFill>
        <p:spPr>
          <a:xfrm>
            <a:off x="7552027" y="4772580"/>
            <a:ext cx="3183945" cy="173719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88E3E4A-E779-5EB8-35D3-EB5ED5165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021" t="19528" r="14705" b="22887"/>
          <a:stretch>
            <a:fillRect/>
          </a:stretch>
        </p:blipFill>
        <p:spPr>
          <a:xfrm>
            <a:off x="13868400" y="4755837"/>
            <a:ext cx="2113691" cy="1743266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783B0D98-309C-DC79-126A-1DBFDA4300F1}"/>
              </a:ext>
            </a:extLst>
          </p:cNvPr>
          <p:cNvSpPr txBox="1"/>
          <p:nvPr/>
        </p:nvSpPr>
        <p:spPr>
          <a:xfrm>
            <a:off x="4096500" y="2788850"/>
            <a:ext cx="9918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SF Mono" panose="020B0009000002000000" pitchFamily="49" charset="0"/>
                <a:cs typeface="SF Mono" panose="020B0009000002000000" pitchFamily="49" charset="0"/>
              </a:rPr>
              <a:t>By the end of </a:t>
            </a:r>
            <a:r>
              <a:rPr lang="en-US" sz="2800" dirty="0" err="1">
                <a:solidFill>
                  <a:schemeClr val="bg1"/>
                </a:solidFill>
                <a:latin typeface="SF Mono" panose="020B0009000002000000" pitchFamily="49" charset="0"/>
                <a:cs typeface="SF Mono" panose="020B0009000002000000" pitchFamily="49" charset="0"/>
              </a:rPr>
              <a:t>CodeCamp</a:t>
            </a:r>
            <a:r>
              <a:rPr lang="en-US" sz="2800" dirty="0">
                <a:solidFill>
                  <a:schemeClr val="bg1"/>
                </a:solidFill>
                <a:latin typeface="SF Mono" panose="020B0009000002000000" pitchFamily="49" charset="0"/>
                <a:cs typeface="SF Mono" panose="020B0009000002000000" pitchFamily="49" charset="0"/>
              </a:rPr>
              <a:t>, we want students to…</a:t>
            </a:r>
          </a:p>
        </p:txBody>
      </p:sp>
    </p:spTree>
    <p:extLst>
      <p:ext uri="{BB962C8B-B14F-4D97-AF65-F5344CB8AC3E}">
        <p14:creationId xmlns:p14="http://schemas.microsoft.com/office/powerpoint/2010/main" val="1788389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619</Words>
  <Application>Microsoft Macintosh PowerPoint</Application>
  <PresentationFormat>Custom</PresentationFormat>
  <Paragraphs>96</Paragraphs>
  <Slides>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W95FA</vt:lpstr>
      <vt:lpstr>Pixellet TH</vt:lpstr>
      <vt:lpstr>Calibri</vt:lpstr>
      <vt:lpstr>Arial</vt:lpstr>
      <vt:lpstr>Aptos</vt:lpstr>
      <vt:lpstr>SF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Code Presentation in Bright Colors Funky Retro Style</dc:title>
  <cp:lastModifiedBy>Bobby Vu</cp:lastModifiedBy>
  <cp:revision>74</cp:revision>
  <cp:lastPrinted>2026-09-07T19:28:40Z</cp:lastPrinted>
  <dcterms:created xsi:type="dcterms:W3CDTF">2006-08-16T00:00:00Z</dcterms:created>
  <dcterms:modified xsi:type="dcterms:W3CDTF">2026-09-16T16:09:15Z</dcterms:modified>
  <dc:identifier>DAHUhDd2f0g</dc:identifier>
</cp:coreProperties>
</file>